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74AF9-635A-4F4B-8723-7E1314163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9624F7-D9C0-4C98-8CB0-816CCBD67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22B2ED-0C21-4EA8-A898-939DF138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EA220-6237-44F0-A215-EAD11B79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049B2-D7F3-4688-BE9D-44E5538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23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69B1F-F4CF-42E0-9AB2-6FA68306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FB72B8-4302-40B8-9481-51968E3AE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84329E-081D-4837-9C5B-38C4A716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89B7D-659C-4D75-9EE5-FC022525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299505-73CB-4AF9-9EB5-67C07B6E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08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5C7A8-95A1-4D0A-B64C-4375A8FB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BB900-37EF-419C-9E68-B9259EDF4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9819D9-7F3E-47B0-9659-48D50F4E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6C1E7-968C-46BF-B82E-3706F399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A46392-31DC-4F95-A004-ADA16115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00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B5CBB-134F-46FA-B765-0A7175A6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F29FF-D077-4F1B-B9FD-C60353680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C542AC-C4A9-444B-8FD6-F50712A23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017A72-5772-4E91-BA63-0A7E7040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BBA3A-5B66-443D-A5EF-463012E3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F48B12-3F61-44FB-8E47-1572E737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10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B6755-184B-48B6-96F3-9150A4A8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0B0F2F-94B3-415E-BCB6-AD2D55FC4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E792E9-9F96-480F-83D5-14DC92BA0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7C9EB2-9CCD-4FCD-976A-E5F14E843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D97603-CF04-4BA5-BB52-A3A24B52A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E51B55-A3C0-4EC2-ACEC-A4200622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0EA630-A561-45F1-80AB-98AA197E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9DBD03-A982-4399-BCB7-808B0CA5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4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759A7-6FEE-49AD-AEE8-00DFD07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FA60BC-5D4B-487C-A06A-7699C0BB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B5B0D4-E9DB-4A30-9B9D-0F5C4501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7A66CC-729E-469C-B253-3CA693676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10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49EC76-9673-4F3B-A3BB-71F70278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C301B0-39E1-43CB-B3E3-C0CCBCEB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24552-39A7-456A-9FDE-F02E90FE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54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71F46-B595-4632-92B4-22F5FC55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D7652-DAB4-4824-AAED-9223DDBAB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ED1FA9-5CA8-4457-ADE9-51360C014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173FD0-1A01-42B2-B2DA-ED0E5136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F46D96-EC20-4BDC-B764-CC0C4F410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9F49A9-399B-455B-A869-793BCA5A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31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1DD65-C886-4827-9B1B-D536B76D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11ADF4-F62C-4B1E-A52B-23A859978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0098-3AB9-4D54-AC3B-FBD1FC72E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C28D7B-81F7-4501-8CD6-18D0D336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58434F-42B6-409D-A69A-1DF8A176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09F0E0-77E7-43DA-B78E-C0B43BE1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9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6C511-30F4-4A39-8EF0-477F038D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235457-FE6E-4CEB-BE57-487D4C03B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353E0-1D57-4805-88B8-3DB22E05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F7814-1ABB-4555-96FB-95E38994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98E1A-336A-4BB4-BFA6-D06A0574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591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6EE9C5-C233-401B-AD04-0AA18B891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1AFB36-D5B1-4F58-8010-4BE0320C0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FA5557-0D34-48A6-8038-CD7948ED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7AA180-654B-41A6-98F3-56BF69EF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70D3B-ADD9-49E8-8092-C6B2AF75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94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9FAC4C-EE6B-4EF8-A48E-74E2DE06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C01B8-2122-4D40-B474-4E1AC8D3C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94637C-3BD4-4E18-8C4F-8323D6CC0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6385-DB7F-4046-AC3D-0D0BD82E49B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73147-1DB8-4A77-9173-3FC7EC755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C51CBA-62A8-408B-B335-53D69AF88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6FEF1-D451-459C-9EEC-859FA7489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59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83C11-C3FE-4934-9C21-4F51533FA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宋代官制数据提取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3AAEFB-CD92-4893-84AE-8F850F904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/>
              <a:t>2026.02.04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249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D4066-02EE-49AD-AB87-6C0B18E4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1241B1-89DC-4FBC-BC21-4BD6C4AED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构建宋代官制数据集</a:t>
            </a:r>
            <a:endParaRPr lang="en-US" altLang="zh-CN" dirty="0"/>
          </a:p>
          <a:p>
            <a:pPr lvl="1"/>
            <a:r>
              <a:rPr lang="zh-CN" altLang="en-US" dirty="0"/>
              <a:t>提取机构、官职基本信息</a:t>
            </a:r>
            <a:endParaRPr lang="en-US" altLang="zh-CN" dirty="0"/>
          </a:p>
          <a:p>
            <a:pPr lvl="1"/>
            <a:r>
              <a:rPr lang="zh-CN" altLang="en-US" dirty="0"/>
              <a:t>梳理机构、官职之间的关联结构</a:t>
            </a:r>
            <a:endParaRPr lang="en-US" altLang="zh-CN" dirty="0"/>
          </a:p>
          <a:p>
            <a:pPr lvl="1"/>
            <a:r>
              <a:rPr lang="zh-CN" altLang="en-US" dirty="0"/>
              <a:t>保留溯源引用信息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探索人机结合的数据清理流程</a:t>
            </a:r>
            <a:endParaRPr lang="en-US" altLang="zh-CN" dirty="0"/>
          </a:p>
          <a:p>
            <a:pPr lvl="1"/>
            <a:r>
              <a:rPr lang="zh-CN" altLang="en-US" dirty="0"/>
              <a:t>代理出现的问题进行分类</a:t>
            </a:r>
            <a:endParaRPr lang="en-US" altLang="zh-CN" dirty="0"/>
          </a:p>
          <a:p>
            <a:pPr lvl="1"/>
            <a:r>
              <a:rPr lang="zh-CN" altLang="en-US" dirty="0"/>
              <a:t>溯源信息保留</a:t>
            </a:r>
            <a:endParaRPr lang="en-US" altLang="zh-CN" dirty="0"/>
          </a:p>
          <a:p>
            <a:pPr lvl="1"/>
            <a:r>
              <a:rPr lang="zh-CN" altLang="en-US" dirty="0"/>
              <a:t>分工合作方式</a:t>
            </a:r>
          </a:p>
        </p:txBody>
      </p:sp>
    </p:spTree>
    <p:extLst>
      <p:ext uri="{BB962C8B-B14F-4D97-AF65-F5344CB8AC3E}">
        <p14:creationId xmlns:p14="http://schemas.microsoft.com/office/powerpoint/2010/main" val="262397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CA4B7-0649-4081-8B05-A6224338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DE59BA-E851-4977-BA90-29CE9B194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zh-CN" altLang="en-US" dirty="0"/>
              <a:t>目前主要数据源</a:t>
            </a:r>
            <a:endParaRPr lang="en-US" altLang="zh-CN" dirty="0"/>
          </a:p>
          <a:p>
            <a:pPr lvl="1"/>
            <a:r>
              <a:rPr lang="en-US" altLang="zh-CN" dirty="0"/>
              <a:t>《</a:t>
            </a:r>
            <a:r>
              <a:rPr lang="zh-CN" altLang="en-US" dirty="0"/>
              <a:t>宋代官制辞典</a:t>
            </a:r>
            <a:r>
              <a:rPr lang="en-US" altLang="zh-CN" dirty="0"/>
              <a:t>》</a:t>
            </a:r>
          </a:p>
          <a:p>
            <a:r>
              <a:rPr lang="zh-CN" altLang="en-US" dirty="0"/>
              <a:t>其他可能的数据源</a:t>
            </a:r>
            <a:endParaRPr lang="en-US" altLang="zh-CN" dirty="0"/>
          </a:p>
          <a:p>
            <a:pPr lvl="1"/>
            <a:r>
              <a:rPr lang="en-US" altLang="zh-CN" dirty="0"/>
              <a:t>《</a:t>
            </a:r>
            <a:r>
              <a:rPr lang="zh-CN" altLang="en-US" dirty="0"/>
              <a:t>辞典</a:t>
            </a:r>
            <a:r>
              <a:rPr lang="en-US" altLang="zh-CN" dirty="0"/>
              <a:t>》</a:t>
            </a:r>
            <a:r>
              <a:rPr lang="zh-CN" altLang="en-US" dirty="0"/>
              <a:t>中提及的引用的原文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460F852-BA19-482B-AD20-B94B5AB18FC8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数据结构</a:t>
            </a:r>
            <a:endParaRPr lang="en-US" altLang="zh-CN" dirty="0"/>
          </a:p>
          <a:p>
            <a:pPr lvl="1"/>
            <a:r>
              <a:rPr lang="zh-CN" altLang="en-US" dirty="0"/>
              <a:t>词条名称 </a:t>
            </a:r>
            <a:r>
              <a:rPr lang="en-US" altLang="zh-CN" dirty="0"/>
              <a:t>title</a:t>
            </a:r>
          </a:p>
          <a:p>
            <a:pPr lvl="1"/>
            <a:r>
              <a:rPr lang="zh-CN" altLang="en-US" dirty="0"/>
              <a:t>辞典中所在目录 </a:t>
            </a:r>
            <a:r>
              <a:rPr lang="en-US" altLang="zh-CN" dirty="0"/>
              <a:t>catalog</a:t>
            </a:r>
          </a:p>
          <a:p>
            <a:pPr lvl="1"/>
            <a:r>
              <a:rPr lang="zh-CN" altLang="en-US" dirty="0"/>
              <a:t>页码 </a:t>
            </a:r>
            <a:r>
              <a:rPr lang="en-US" altLang="zh-CN" dirty="0"/>
              <a:t>page</a:t>
            </a:r>
          </a:p>
          <a:p>
            <a:pPr lvl="1"/>
            <a:r>
              <a:rPr lang="zh-CN" altLang="en-US" dirty="0"/>
              <a:t>词条后的描述文本 </a:t>
            </a:r>
            <a:r>
              <a:rPr lang="en-US" altLang="zh-CN" dirty="0"/>
              <a:t>text</a:t>
            </a:r>
          </a:p>
          <a:p>
            <a:pPr lvl="1"/>
            <a:r>
              <a:rPr lang="zh-CN" altLang="en-US" dirty="0"/>
              <a:t>其他字段信息 </a:t>
            </a:r>
            <a:r>
              <a:rPr lang="en-US" altLang="zh-CN" dirty="0"/>
              <a:t>fields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14AF2E-3F01-4CB9-BC54-ECCDE6F15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3744834" cy="265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36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9757A-C1A3-4E66-8A0E-9840490B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28E42-DA89-4872-996C-9FF8CFE00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官制数据表中的每一项对应一个机构或官职在某段时间内的属性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28F9EA-79C8-4FED-93E6-D7250FF58BAB}"/>
              </a:ext>
            </a:extLst>
          </p:cNvPr>
          <p:cNvSpPr txBox="1"/>
          <p:nvPr/>
        </p:nvSpPr>
        <p:spPr>
          <a:xfrm>
            <a:off x="838200" y="2824975"/>
            <a:ext cx="49214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机构：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名称 </a:t>
            </a:r>
            <a:r>
              <a:rPr lang="en-US" altLang="zh-CN" dirty="0"/>
              <a:t>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目录与页码 </a:t>
            </a:r>
            <a:r>
              <a:rPr lang="en-US" altLang="zh-CN" dirty="0"/>
              <a:t>catalog,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类别与子类 </a:t>
            </a:r>
            <a:r>
              <a:rPr lang="en-US" altLang="zh-CN" dirty="0"/>
              <a:t>type = </a:t>
            </a:r>
            <a:r>
              <a:rPr lang="zh-CN" altLang="en-US" dirty="0"/>
              <a:t>机构</a:t>
            </a:r>
            <a:r>
              <a:rPr lang="en-US" altLang="zh-CN" dirty="0"/>
              <a:t>, subtype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覆盖时间段 </a:t>
            </a:r>
            <a:r>
              <a:rPr lang="en-US" altLang="zh-CN" dirty="0" err="1"/>
              <a:t>bgn_time</a:t>
            </a:r>
            <a:r>
              <a:rPr lang="en-US" altLang="zh-CN" dirty="0"/>
              <a:t>, </a:t>
            </a:r>
            <a:r>
              <a:rPr lang="en-US" altLang="zh-CN" dirty="0" err="1"/>
              <a:t>end_time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起止时间点事件 </a:t>
            </a:r>
            <a:r>
              <a:rPr lang="en-US" altLang="zh-CN" dirty="0" err="1"/>
              <a:t>bgn_event</a:t>
            </a:r>
            <a:r>
              <a:rPr lang="en-US" altLang="zh-CN" dirty="0"/>
              <a:t>, </a:t>
            </a:r>
            <a:r>
              <a:rPr lang="en-US" altLang="zh-CN" dirty="0" err="1"/>
              <a:t>end_event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上级机构 </a:t>
            </a:r>
            <a:r>
              <a:rPr lang="en-US" altLang="zh-CN" dirty="0"/>
              <a:t>superiors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下级机构 </a:t>
            </a:r>
            <a:r>
              <a:rPr lang="en-US" altLang="zh-CN" dirty="0"/>
              <a:t>subordinates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编制信息 </a:t>
            </a:r>
            <a:r>
              <a:rPr lang="en-US" altLang="zh-CN" dirty="0"/>
              <a:t>staffing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5616E-9F4A-4D43-9B32-5EB34B89A618}"/>
              </a:ext>
            </a:extLst>
          </p:cNvPr>
          <p:cNvSpPr txBox="1"/>
          <p:nvPr/>
        </p:nvSpPr>
        <p:spPr>
          <a:xfrm>
            <a:off x="6432395" y="2824974"/>
            <a:ext cx="4921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官职：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名称 </a:t>
            </a:r>
            <a:r>
              <a:rPr lang="en-US" altLang="zh-CN" dirty="0"/>
              <a:t>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目录与页码 </a:t>
            </a:r>
            <a:r>
              <a:rPr lang="en-US" altLang="zh-CN" dirty="0"/>
              <a:t>catalog,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类别与子类 </a:t>
            </a:r>
            <a:r>
              <a:rPr lang="en-US" altLang="zh-CN" dirty="0"/>
              <a:t>type = </a:t>
            </a:r>
            <a:r>
              <a:rPr lang="zh-CN" altLang="en-US" dirty="0"/>
              <a:t>官职</a:t>
            </a:r>
            <a:r>
              <a:rPr lang="en-US" altLang="zh-CN" dirty="0"/>
              <a:t>, subtype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覆盖时间段 </a:t>
            </a:r>
            <a:r>
              <a:rPr lang="en-US" altLang="zh-CN" dirty="0" err="1"/>
              <a:t>bgn_time</a:t>
            </a:r>
            <a:r>
              <a:rPr lang="en-US" altLang="zh-CN" dirty="0"/>
              <a:t>, </a:t>
            </a:r>
            <a:r>
              <a:rPr lang="en-US" altLang="zh-CN" dirty="0" err="1"/>
              <a:t>end_time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起止时间点事件 </a:t>
            </a:r>
            <a:r>
              <a:rPr lang="en-US" altLang="zh-CN" dirty="0" err="1"/>
              <a:t>bgn_event</a:t>
            </a:r>
            <a:r>
              <a:rPr lang="en-US" altLang="zh-CN" dirty="0"/>
              <a:t>, </a:t>
            </a:r>
            <a:r>
              <a:rPr lang="en-US" altLang="zh-CN" dirty="0" err="1"/>
              <a:t>end_event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隶属机构 </a:t>
            </a:r>
            <a:r>
              <a:rPr lang="en-US" altLang="zh-CN" dirty="0"/>
              <a:t>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品级 </a:t>
            </a:r>
            <a:r>
              <a:rPr lang="en-US" altLang="zh-CN" dirty="0"/>
              <a:t>grade</a:t>
            </a:r>
          </a:p>
        </p:txBody>
      </p:sp>
    </p:spTree>
    <p:extLst>
      <p:ext uri="{BB962C8B-B14F-4D97-AF65-F5344CB8AC3E}">
        <p14:creationId xmlns:p14="http://schemas.microsoft.com/office/powerpoint/2010/main" val="2105564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3B701-04FE-49B1-B08F-B13A967A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数据接口 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E3749-6CCD-4AB7-B81C-5861BC98C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数据接口是在模拟人类用户获取数据，修改数据的操作，并允许代理组合这些操作，完成信息提取任务。</a:t>
            </a:r>
            <a:endParaRPr lang="en-US" altLang="zh-CN" dirty="0"/>
          </a:p>
          <a:p>
            <a:r>
              <a:rPr lang="zh-CN" altLang="en-US" dirty="0"/>
              <a:t>查询数据</a:t>
            </a:r>
            <a:endParaRPr lang="en-US" altLang="zh-CN" dirty="0"/>
          </a:p>
          <a:p>
            <a:pPr lvl="1"/>
            <a:r>
              <a:rPr lang="zh-CN" altLang="en-US" dirty="0"/>
              <a:t>查询</a:t>
            </a:r>
            <a:r>
              <a:rPr lang="en-US" altLang="zh-CN" dirty="0"/>
              <a:t>《</a:t>
            </a:r>
            <a:r>
              <a:rPr lang="zh-CN" altLang="en-US" dirty="0"/>
              <a:t>辞典</a:t>
            </a:r>
            <a:r>
              <a:rPr lang="en-US" altLang="zh-CN" dirty="0"/>
              <a:t>》</a:t>
            </a:r>
            <a:r>
              <a:rPr lang="zh-CN" altLang="en-US" dirty="0"/>
              <a:t>中的词条信息</a:t>
            </a:r>
            <a:endParaRPr lang="en-US" altLang="zh-CN" dirty="0"/>
          </a:p>
          <a:p>
            <a:pPr lvl="1"/>
            <a:r>
              <a:rPr lang="zh-CN" altLang="en-US" dirty="0"/>
              <a:t>查询官制表中的对应词条的信息</a:t>
            </a:r>
            <a:endParaRPr lang="en-US" altLang="zh-CN" dirty="0"/>
          </a:p>
          <a:p>
            <a:r>
              <a:rPr lang="zh-CN" altLang="en-US" dirty="0"/>
              <a:t>修改数据（官制表）</a:t>
            </a:r>
            <a:endParaRPr lang="en-US" altLang="zh-CN" dirty="0"/>
          </a:p>
          <a:p>
            <a:pPr lvl="1"/>
            <a:r>
              <a:rPr lang="zh-CN" altLang="en-US" dirty="0"/>
              <a:t>更新属性</a:t>
            </a:r>
            <a:endParaRPr lang="en-US" altLang="zh-CN" dirty="0"/>
          </a:p>
          <a:p>
            <a:pPr lvl="1"/>
            <a:r>
              <a:rPr lang="zh-CN" altLang="en-US" dirty="0"/>
              <a:t>追加属性</a:t>
            </a:r>
            <a:endParaRPr lang="en-US" altLang="zh-CN" dirty="0"/>
          </a:p>
          <a:p>
            <a:pPr lvl="1"/>
            <a:r>
              <a:rPr lang="zh-CN" altLang="en-US" dirty="0"/>
              <a:t>拆分时间段（添加重要时间点与对应事件）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78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57882-23AC-4EF4-AD29-CD57D86E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对比现有数据表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810A83-B6FF-448C-A0B2-159300A13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《</a:t>
            </a:r>
            <a:r>
              <a:rPr lang="zh-CN" altLang="en-US" dirty="0"/>
              <a:t>尚书省下机构官职表总表</a:t>
            </a:r>
            <a:r>
              <a:rPr lang="en-US" altLang="zh-CN" dirty="0"/>
              <a:t>》</a:t>
            </a:r>
            <a:r>
              <a:rPr lang="zh-CN" altLang="en-US" dirty="0"/>
              <a:t>为例，包含维度</a:t>
            </a:r>
            <a:endParaRPr lang="en-US" altLang="zh-CN" dirty="0"/>
          </a:p>
          <a:p>
            <a:pPr lvl="1"/>
            <a:r>
              <a:rPr lang="zh-CN" altLang="en-US" dirty="0"/>
              <a:t>类别，参考文档页数</a:t>
            </a:r>
            <a:endParaRPr lang="en-US" altLang="zh-CN" dirty="0"/>
          </a:p>
          <a:p>
            <a:pPr lvl="1"/>
            <a:r>
              <a:rPr lang="zh-CN" altLang="en-US" dirty="0"/>
              <a:t>条目名</a:t>
            </a:r>
            <a:endParaRPr lang="en-US" altLang="zh-CN" dirty="0"/>
          </a:p>
          <a:p>
            <a:pPr lvl="1"/>
            <a:r>
              <a:rPr lang="en-US" altLang="zh-CN" b="1" dirty="0"/>
              <a:t>*</a:t>
            </a:r>
            <a:r>
              <a:rPr lang="zh-CN" altLang="en-US" b="1" dirty="0"/>
              <a:t>衙署</a:t>
            </a:r>
            <a:endParaRPr lang="en-US" altLang="zh-CN" b="1" dirty="0"/>
          </a:p>
          <a:p>
            <a:pPr lvl="1"/>
            <a:r>
              <a:rPr lang="zh-CN" altLang="en-US" dirty="0"/>
              <a:t>上级机构，下级机构</a:t>
            </a:r>
            <a:endParaRPr lang="en-US" altLang="zh-CN" dirty="0"/>
          </a:p>
          <a:p>
            <a:pPr lvl="1"/>
            <a:r>
              <a:rPr lang="zh-CN" altLang="en-US" dirty="0"/>
              <a:t>隶属机构</a:t>
            </a:r>
            <a:endParaRPr lang="en-US" altLang="zh-CN" dirty="0"/>
          </a:p>
          <a:p>
            <a:pPr lvl="1"/>
            <a:r>
              <a:rPr lang="en-US" altLang="zh-CN" b="1" dirty="0"/>
              <a:t>*</a:t>
            </a:r>
            <a:r>
              <a:rPr lang="zh-CN" altLang="en-US" b="1" dirty="0"/>
              <a:t>下级官员，平级官员</a:t>
            </a:r>
            <a:endParaRPr lang="en-US" altLang="zh-CN" b="1" dirty="0"/>
          </a:p>
          <a:p>
            <a:pPr lvl="1"/>
            <a:r>
              <a:rPr lang="zh-CN" altLang="en-US" dirty="0"/>
              <a:t>官品，品级</a:t>
            </a:r>
            <a:endParaRPr lang="en-US" altLang="zh-CN" dirty="0"/>
          </a:p>
          <a:p>
            <a:pPr lvl="1"/>
            <a:r>
              <a:rPr lang="zh-CN" altLang="en-US" dirty="0"/>
              <a:t>编制，官额，吏额</a:t>
            </a:r>
            <a:endParaRPr lang="en-US" altLang="zh-CN" dirty="0"/>
          </a:p>
          <a:p>
            <a:pPr lvl="1"/>
            <a:r>
              <a:rPr lang="en-US" altLang="zh-CN" b="1" dirty="0"/>
              <a:t>*</a:t>
            </a:r>
            <a:r>
              <a:rPr lang="zh-CN" altLang="en-US" b="1" dirty="0"/>
              <a:t>职掌</a:t>
            </a:r>
            <a:endParaRPr lang="en-US" altLang="zh-CN" b="1" dirty="0"/>
          </a:p>
          <a:p>
            <a:pPr lvl="1"/>
            <a:r>
              <a:rPr lang="en-US" altLang="zh-CN" b="1" dirty="0"/>
              <a:t>*</a:t>
            </a:r>
            <a:r>
              <a:rPr lang="zh-CN" altLang="en-US" b="1" dirty="0"/>
              <a:t>简称与别名</a:t>
            </a:r>
            <a:endParaRPr lang="en-US" altLang="zh-CN" b="1" dirty="0"/>
          </a:p>
          <a:p>
            <a:pPr lvl="1"/>
            <a:r>
              <a:rPr lang="zh-CN" altLang="en-US" dirty="0"/>
              <a:t>始置时间，罢置时间，前身</a:t>
            </a:r>
            <a:endParaRPr lang="en-US" altLang="zh-CN" dirty="0"/>
          </a:p>
          <a:p>
            <a:pPr lvl="1"/>
            <a:r>
              <a:rPr lang="en-US" altLang="zh-CN" b="1" dirty="0"/>
              <a:t>*</a:t>
            </a:r>
            <a:r>
              <a:rPr lang="zh-CN" altLang="en-US" b="1" dirty="0"/>
              <a:t>出处与各类文本原文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A0B6CF-F0AA-4D0E-8A09-157B49091CA7}"/>
              </a:ext>
            </a:extLst>
          </p:cNvPr>
          <p:cNvSpPr txBox="1"/>
          <p:nvPr/>
        </p:nvSpPr>
        <p:spPr>
          <a:xfrm>
            <a:off x="6266985" y="2929054"/>
            <a:ext cx="50868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带</a:t>
            </a:r>
            <a:r>
              <a:rPr lang="en-US" altLang="zh-CN" dirty="0"/>
              <a:t>*</a:t>
            </a:r>
            <a:r>
              <a:rPr lang="zh-CN" altLang="en-US" dirty="0"/>
              <a:t>属性暂时没有被包含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优先保留了基础结构属性，即涉及到词条之间的关系的信息；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将大类拆分为机构与官职，并区分了共有属性以及每类自己的属性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引用原文暂时没有直接加入到数据表中</a:t>
            </a:r>
          </a:p>
        </p:txBody>
      </p:sp>
    </p:spTree>
    <p:extLst>
      <p:ext uri="{BB962C8B-B14F-4D97-AF65-F5344CB8AC3E}">
        <p14:creationId xmlns:p14="http://schemas.microsoft.com/office/powerpoint/2010/main" val="5119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6AFC5-C4B9-499F-87D3-0B8761F9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实际执行案例（</a:t>
            </a:r>
            <a:r>
              <a:rPr lang="en-US" altLang="zh-CN" dirty="0"/>
              <a:t>0131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20DF25-DF8C-4C91-ABBA-FB5314BEE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输入数据：</a:t>
            </a:r>
            <a:r>
              <a:rPr lang="en-US" altLang="zh-CN" dirty="0"/>
              <a:t>《</a:t>
            </a:r>
            <a:r>
              <a:rPr lang="zh-CN" altLang="en-US" dirty="0"/>
              <a:t>辞典</a:t>
            </a:r>
            <a:r>
              <a:rPr lang="en-US" altLang="zh-CN" dirty="0"/>
              <a:t>》</a:t>
            </a:r>
            <a:r>
              <a:rPr lang="zh-CN" altLang="en-US" dirty="0"/>
              <a:t>第八至十编 </a:t>
            </a:r>
            <a:r>
              <a:rPr lang="en-US" altLang="zh-CN" dirty="0"/>
              <a:t>OCR </a:t>
            </a:r>
            <a:r>
              <a:rPr lang="zh-CN" altLang="en-US" dirty="0"/>
              <a:t>结果，共</a:t>
            </a:r>
            <a:r>
              <a:rPr lang="en-US" altLang="zh-CN" dirty="0"/>
              <a:t>833</a:t>
            </a:r>
            <a:r>
              <a:rPr lang="zh-CN" altLang="en-US" dirty="0"/>
              <a:t>条数据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151DE4-2CB8-4210-99F6-14DE3F07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19" y="2364027"/>
            <a:ext cx="10920761" cy="437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9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04D58-8278-4E36-AE9F-C9960927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产出数据表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52330-CB09-4FFD-886F-A3AF2F9E7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完全由代理更新的数据表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BE1F39-0ED2-4B5B-9771-F8D07CE4C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5769"/>
            <a:ext cx="12192000" cy="410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5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09B74-562F-40B3-A5EB-EE6B7365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操作记录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99D08-5461-4E84-B842-F515E2666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5615" cy="4351338"/>
          </a:xfrm>
        </p:spPr>
        <p:txBody>
          <a:bodyPr/>
          <a:lstStyle/>
          <a:p>
            <a:r>
              <a:rPr lang="zh-CN" altLang="en-US" dirty="0"/>
              <a:t>思考过程</a:t>
            </a:r>
            <a:endParaRPr lang="en-US" altLang="zh-CN" dirty="0"/>
          </a:p>
          <a:p>
            <a:r>
              <a:rPr lang="zh-CN" altLang="en-US" dirty="0"/>
              <a:t>行为规划</a:t>
            </a:r>
            <a:endParaRPr lang="en-US" altLang="zh-CN" dirty="0"/>
          </a:p>
          <a:p>
            <a:r>
              <a:rPr lang="zh-CN" altLang="en-US" dirty="0"/>
              <a:t>工具调用</a:t>
            </a:r>
            <a:endParaRPr lang="en-US" altLang="zh-CN" dirty="0"/>
          </a:p>
          <a:p>
            <a:pPr lvl="1"/>
            <a:r>
              <a:rPr lang="zh-CN" altLang="en-US" dirty="0"/>
              <a:t>原始引用依赖信息</a:t>
            </a:r>
            <a:endParaRPr lang="en-US" altLang="zh-CN" dirty="0"/>
          </a:p>
          <a:p>
            <a:r>
              <a:rPr lang="zh-CN" altLang="en-US" dirty="0"/>
              <a:t>自纠错能力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58703C-0C6E-42B6-ABDC-431A35B1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815" y="0"/>
            <a:ext cx="71081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7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D1363-6ECC-4339-AE17-A119A57B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存在问题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4C3B8-49AE-45E6-BD8A-90352353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辞典</a:t>
            </a:r>
            <a:r>
              <a:rPr lang="en-US" altLang="zh-CN" dirty="0"/>
              <a:t>》</a:t>
            </a:r>
            <a:r>
              <a:rPr lang="zh-CN" altLang="en-US" dirty="0"/>
              <a:t>条目中存在概念词条和实例词条的区分</a:t>
            </a:r>
            <a:endParaRPr lang="en-US" altLang="zh-CN" dirty="0"/>
          </a:p>
          <a:p>
            <a:pPr lvl="1"/>
            <a:r>
              <a:rPr lang="zh-CN" altLang="en-US" dirty="0"/>
              <a:t>都督府</a:t>
            </a:r>
            <a:r>
              <a:rPr lang="en-US" altLang="zh-CN" dirty="0"/>
              <a:t>-483</a:t>
            </a:r>
          </a:p>
          <a:p>
            <a:pPr lvl="1"/>
            <a:r>
              <a:rPr lang="zh-CN" altLang="en-US" dirty="0"/>
              <a:t>诸路军事都督府</a:t>
            </a:r>
            <a:r>
              <a:rPr lang="en-US" altLang="zh-CN" dirty="0"/>
              <a:t>-483</a:t>
            </a:r>
          </a:p>
          <a:p>
            <a:pPr lvl="1"/>
            <a:r>
              <a:rPr lang="zh-CN" altLang="en-US" dirty="0"/>
              <a:t>诸路军马都督府</a:t>
            </a:r>
            <a:r>
              <a:rPr lang="en-US" altLang="zh-CN" dirty="0"/>
              <a:t>-483</a:t>
            </a:r>
          </a:p>
          <a:p>
            <a:pPr lvl="1"/>
            <a:r>
              <a:rPr lang="zh-CN" altLang="en-US" dirty="0"/>
              <a:t>江淮荆浙都督府</a:t>
            </a:r>
            <a:r>
              <a:rPr lang="en-US" altLang="zh-CN" dirty="0"/>
              <a:t>-483</a:t>
            </a:r>
          </a:p>
          <a:p>
            <a:pPr lvl="1"/>
            <a:r>
              <a:rPr lang="zh-CN" altLang="en-US" dirty="0"/>
              <a:t>江淮都督府</a:t>
            </a:r>
            <a:r>
              <a:rPr lang="en-US" altLang="zh-CN" dirty="0"/>
              <a:t>-483</a:t>
            </a:r>
          </a:p>
          <a:p>
            <a:pPr lvl="1"/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4BBD6E-B755-42BE-9DCB-22FE5CEE0D9D}"/>
              </a:ext>
            </a:extLst>
          </p:cNvPr>
          <p:cNvSpPr txBox="1"/>
          <p:nvPr/>
        </p:nvSpPr>
        <p:spPr>
          <a:xfrm>
            <a:off x="838200" y="4556008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在概念上，各个都督府属于</a:t>
            </a:r>
            <a:r>
              <a:rPr lang="zh-CN" altLang="en-US" b="1" dirty="0"/>
              <a:t>都督府</a:t>
            </a:r>
            <a:r>
              <a:rPr lang="zh-CN" altLang="en-US" dirty="0"/>
              <a:t>的下级词条，但又区别于上下级机构的关系；</a:t>
            </a:r>
            <a:endParaRPr lang="en-US" altLang="zh-CN" dirty="0"/>
          </a:p>
          <a:p>
            <a:r>
              <a:rPr lang="zh-CN" altLang="en-US" dirty="0"/>
              <a:t>理论上，下级词条会继承上级概念词条的属性，如</a:t>
            </a:r>
            <a:r>
              <a:rPr lang="zh-CN" altLang="en-US" b="1" dirty="0"/>
              <a:t>都督府</a:t>
            </a:r>
            <a:r>
              <a:rPr lang="zh-CN" altLang="en-US" dirty="0"/>
              <a:t>的编制信息理应在各个实际的都督府中适用；下级词条同样影响上级概念词条，如存在时间范围等；</a:t>
            </a:r>
            <a:endParaRPr lang="en-US" altLang="zh-CN" dirty="0"/>
          </a:p>
          <a:p>
            <a:r>
              <a:rPr lang="en-US" altLang="zh-CN" dirty="0"/>
              <a:t>Q1 </a:t>
            </a:r>
            <a:r>
              <a:rPr lang="zh-CN" altLang="en-US" dirty="0"/>
              <a:t>是否需要专门区分概念词条和实例词条？</a:t>
            </a:r>
            <a:endParaRPr lang="en-US" altLang="zh-CN" dirty="0"/>
          </a:p>
          <a:p>
            <a:r>
              <a:rPr lang="en-US" altLang="zh-CN" dirty="0"/>
              <a:t>Q2 </a:t>
            </a:r>
            <a:r>
              <a:rPr lang="zh-CN" altLang="en-US" dirty="0"/>
              <a:t>如何维护之间的关联，尤其在两方存在冲突时？</a:t>
            </a:r>
          </a:p>
        </p:txBody>
      </p:sp>
    </p:spTree>
    <p:extLst>
      <p:ext uri="{BB962C8B-B14F-4D97-AF65-F5344CB8AC3E}">
        <p14:creationId xmlns:p14="http://schemas.microsoft.com/office/powerpoint/2010/main" val="189445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7CB7901-0437-4684-8B2C-9750CDFA0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6246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369362D-30E4-4663-9F0F-B752418A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246" y="0"/>
            <a:ext cx="3426246" cy="103772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DEC1A6-B635-4DD4-AA6F-44E29D5C5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247" y="1187488"/>
            <a:ext cx="3426246" cy="3338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C06133A-BC1E-416B-B7FF-E8820F583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246" y="1518757"/>
            <a:ext cx="3426246" cy="51105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1464773-35A5-4EB4-9404-DF45CD2F56E7}"/>
              </a:ext>
            </a:extLst>
          </p:cNvPr>
          <p:cNvSpPr txBox="1"/>
          <p:nvPr/>
        </p:nvSpPr>
        <p:spPr>
          <a:xfrm>
            <a:off x="7545658" y="338744"/>
            <a:ext cx="41259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从文本看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宋都督府最早于南宋绍兴二年四月二十七日设立；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首先设立的是江淮荆浙都督府；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前后总共设立了五个都督府；</a:t>
            </a:r>
            <a:endParaRPr lang="en-US" altLang="zh-CN" dirty="0"/>
          </a:p>
          <a:p>
            <a:r>
              <a:rPr lang="zh-CN" altLang="en-US" dirty="0"/>
              <a:t>此外还有都督行府；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184EAB-2FB2-4B68-A86C-1E62A3589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809" y="4133769"/>
            <a:ext cx="3426246" cy="249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79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D1363-6ECC-4339-AE17-A119A57B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存在问题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4C3B8-49AE-45E6-BD8A-90352353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存在</a:t>
            </a:r>
            <a:r>
              <a:rPr lang="en-US" altLang="zh-CN" dirty="0"/>
              <a:t>《</a:t>
            </a:r>
            <a:r>
              <a:rPr lang="zh-CN" altLang="en-US" dirty="0"/>
              <a:t>辞典</a:t>
            </a:r>
            <a:r>
              <a:rPr lang="en-US" altLang="zh-CN" dirty="0"/>
              <a:t>》</a:t>
            </a:r>
            <a:r>
              <a:rPr lang="zh-CN" altLang="en-US" dirty="0"/>
              <a:t>中仅提及但未收录为单独词条的机构或官职</a:t>
            </a:r>
            <a:endParaRPr lang="en-US" altLang="zh-CN" dirty="0"/>
          </a:p>
          <a:p>
            <a:pPr lvl="1"/>
            <a:r>
              <a:rPr lang="zh-CN" altLang="en-US" dirty="0"/>
              <a:t>江淮都督府</a:t>
            </a:r>
            <a:endParaRPr lang="en-US" altLang="zh-CN" dirty="0"/>
          </a:p>
          <a:p>
            <a:pPr lvl="2"/>
            <a:r>
              <a:rPr lang="zh-CN" altLang="en-US" dirty="0"/>
              <a:t>改名</a:t>
            </a:r>
            <a:r>
              <a:rPr lang="zh-CN" altLang="en-US" b="1" dirty="0"/>
              <a:t>江淮东、西路宣抚使司</a:t>
            </a:r>
            <a:r>
              <a:rPr lang="zh-CN" altLang="en-US" dirty="0"/>
              <a:t>，之后改回</a:t>
            </a:r>
            <a:endParaRPr lang="en-US" altLang="zh-CN" dirty="0"/>
          </a:p>
          <a:p>
            <a:pPr lvl="2"/>
            <a:r>
              <a:rPr lang="zh-CN" altLang="en-US" dirty="0"/>
              <a:t>该名称没有搭建单独词条</a:t>
            </a:r>
            <a:endParaRPr lang="en-US" altLang="zh-CN" dirty="0"/>
          </a:p>
          <a:p>
            <a:pPr lvl="1"/>
            <a:r>
              <a:rPr lang="zh-CN" altLang="en-US" dirty="0"/>
              <a:t>都总管司走马承受公事</a:t>
            </a:r>
            <a:endParaRPr lang="en-US" altLang="zh-CN" dirty="0"/>
          </a:p>
          <a:p>
            <a:pPr lvl="2"/>
            <a:r>
              <a:rPr lang="zh-CN" altLang="en-US" dirty="0"/>
              <a:t>某路都总管司走马承受公事</a:t>
            </a:r>
            <a:endParaRPr lang="en-US" altLang="zh-CN" dirty="0"/>
          </a:p>
          <a:p>
            <a:pPr lvl="2"/>
            <a:r>
              <a:rPr lang="zh-CN" altLang="en-US" b="1" dirty="0"/>
              <a:t>廉访使者</a:t>
            </a:r>
            <a:r>
              <a:rPr lang="en-US" altLang="zh-CN" b="1" dirty="0"/>
              <a:t>-490</a:t>
            </a:r>
          </a:p>
          <a:p>
            <a:pPr lvl="2"/>
            <a:r>
              <a:rPr lang="zh-CN" altLang="en-US" dirty="0"/>
              <a:t>复称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4BBD6E-B755-42BE-9DCB-22FE5CEE0D9D}"/>
              </a:ext>
            </a:extLst>
          </p:cNvPr>
          <p:cNvSpPr txBox="1"/>
          <p:nvPr/>
        </p:nvSpPr>
        <p:spPr>
          <a:xfrm>
            <a:off x="838200" y="4853374"/>
            <a:ext cx="7090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从数据一致性的角度来看，应当为这些“临时”的名称建立词条；</a:t>
            </a:r>
            <a:endParaRPr lang="en-US" altLang="zh-CN" dirty="0"/>
          </a:p>
          <a:p>
            <a:r>
              <a:rPr lang="zh-CN" altLang="en-US" dirty="0"/>
              <a:t>类似的还有各种简称中涉及的名称，是否需要建立独立词条？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9E2D1C-F2F9-4CEB-87C0-70072ABDD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899" y="0"/>
            <a:ext cx="4183101" cy="188524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361D906-9DC3-4887-9A5C-D991186FC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759" y="2301992"/>
            <a:ext cx="4263242" cy="400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6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485A3-A9C8-4481-B6C3-BF7E6EBE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存在问题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7D1493-B0DB-46F9-AFDB-42C98977F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辞典</a:t>
            </a:r>
            <a:r>
              <a:rPr lang="en-US" altLang="zh-CN" dirty="0"/>
              <a:t>》</a:t>
            </a:r>
            <a:r>
              <a:rPr lang="zh-CN" altLang="en-US" dirty="0"/>
              <a:t>词条与数据表中的属性并非一对一，而是多对多关系</a:t>
            </a:r>
            <a:endParaRPr lang="en-US" altLang="zh-CN" dirty="0"/>
          </a:p>
          <a:p>
            <a:pPr lvl="1"/>
            <a:r>
              <a:rPr lang="zh-CN" altLang="en-US" dirty="0"/>
              <a:t>双向关系应当同时更新，即使仅在一个词条中提及</a:t>
            </a:r>
            <a:endParaRPr lang="en-US" altLang="zh-CN" dirty="0"/>
          </a:p>
          <a:p>
            <a:pPr lvl="2"/>
            <a:r>
              <a:rPr lang="zh-CN" altLang="en-US" dirty="0"/>
              <a:t>如上级</a:t>
            </a:r>
            <a:r>
              <a:rPr lang="en-US" altLang="zh-CN" dirty="0"/>
              <a:t>-</a:t>
            </a:r>
            <a:r>
              <a:rPr lang="zh-CN" altLang="en-US" dirty="0"/>
              <a:t>下级关系，隶属机构与编制关系</a:t>
            </a:r>
            <a:endParaRPr lang="en-US" altLang="zh-CN" dirty="0"/>
          </a:p>
          <a:p>
            <a:pPr lvl="1"/>
            <a:r>
              <a:rPr lang="zh-CN" altLang="en-US" dirty="0"/>
              <a:t>多个词条共同提及相同的一个属性</a:t>
            </a:r>
            <a:endParaRPr lang="en-US" altLang="zh-CN" dirty="0"/>
          </a:p>
          <a:p>
            <a:pPr lvl="2"/>
            <a:r>
              <a:rPr lang="zh-CN" altLang="en-US" dirty="0"/>
              <a:t>多出现在本身存在关联的词条对中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5032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92B56-8D35-4E41-9FA8-54731909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重要事件类别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8D619-F1E7-445C-B1DF-30392BB59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始置，罢置，沿置</a:t>
            </a:r>
            <a:endParaRPr lang="en-US" altLang="zh-CN" dirty="0"/>
          </a:p>
          <a:p>
            <a:r>
              <a:rPr lang="zh-CN" altLang="en-US" dirty="0"/>
              <a:t>改名，复名，改置，更名，复旧称</a:t>
            </a:r>
            <a:endParaRPr lang="en-US" altLang="zh-CN" dirty="0"/>
          </a:p>
          <a:p>
            <a:r>
              <a:rPr lang="zh-CN" altLang="en-US" dirty="0"/>
              <a:t>合并，并归</a:t>
            </a:r>
            <a:endParaRPr lang="en-US" altLang="zh-CN" dirty="0"/>
          </a:p>
          <a:p>
            <a:r>
              <a:rPr lang="zh-CN" altLang="en-US" dirty="0"/>
              <a:t>改隶</a:t>
            </a:r>
            <a:endParaRPr lang="en-US" altLang="zh-CN" dirty="0"/>
          </a:p>
          <a:p>
            <a:pPr lvl="1"/>
            <a:r>
              <a:rPr lang="zh-CN" altLang="en-US" dirty="0"/>
              <a:t>改隶路提举市舶司</a:t>
            </a:r>
            <a:endParaRPr lang="en-US" altLang="zh-CN" dirty="0"/>
          </a:p>
          <a:p>
            <a:pPr lvl="1"/>
            <a:r>
              <a:rPr lang="zh-CN" altLang="en-US" dirty="0"/>
              <a:t>皇太子领临安府尹、免太子领临安府尹</a:t>
            </a:r>
            <a:endParaRPr lang="en-US" altLang="zh-CN" dirty="0"/>
          </a:p>
          <a:p>
            <a:pPr lvl="1"/>
            <a:r>
              <a:rPr lang="zh-CN" altLang="en-US" dirty="0"/>
              <a:t>由司理院分置</a:t>
            </a:r>
            <a:endParaRPr lang="en-US" altLang="zh-CN" dirty="0"/>
          </a:p>
          <a:p>
            <a:pPr lvl="1"/>
            <a:r>
              <a:rPr lang="zh-CN" altLang="en-US" dirty="0"/>
              <a:t>升杭州为临安府</a:t>
            </a:r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0BAE3D-AC74-4043-9FFB-1D5459943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360" y="1"/>
            <a:ext cx="3709639" cy="21765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11464E-B0AC-410D-A85D-A95D5DE6C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360" y="2311513"/>
            <a:ext cx="3709640" cy="6275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CB2055-EBCA-42E5-9EC7-AC1C78D70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352" y="2865028"/>
            <a:ext cx="2965877" cy="3046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EABD49-4801-4166-A7A8-5A30461E0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802" y="3263901"/>
            <a:ext cx="3617198" cy="20961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85A6682-35AC-4F9E-911E-930F47E5EF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967" y="5516137"/>
            <a:ext cx="3704033" cy="134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65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9E560-0151-4600-8C6F-BC8563C2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其他方面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F7FD44-3A2A-4AFE-AABD-4EF4D23A4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引用依赖信息如何记录</a:t>
            </a:r>
            <a:endParaRPr lang="en-US" altLang="zh-CN" dirty="0"/>
          </a:p>
          <a:p>
            <a:pPr lvl="1"/>
            <a:r>
              <a:rPr lang="zh-CN" altLang="en-US" dirty="0"/>
              <a:t>记录到什么程度能够作为可引用信息</a:t>
            </a:r>
            <a:endParaRPr lang="en-US" altLang="zh-CN" dirty="0"/>
          </a:p>
          <a:p>
            <a:pPr lvl="1"/>
            <a:r>
              <a:rPr lang="zh-CN" altLang="en-US" dirty="0"/>
              <a:t>是否记录中间引用</a:t>
            </a:r>
            <a:endParaRPr lang="en-US" altLang="zh-CN" dirty="0"/>
          </a:p>
          <a:p>
            <a:r>
              <a:rPr lang="zh-CN" altLang="en-US" dirty="0"/>
              <a:t>条目分类</a:t>
            </a:r>
            <a:endParaRPr lang="en-US" altLang="zh-CN" dirty="0"/>
          </a:p>
          <a:p>
            <a:r>
              <a:rPr lang="zh-CN" altLang="en-US" dirty="0"/>
              <a:t>临时设立的机构或官职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2859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53FEE-E5A4-4E2D-BF46-BB599B9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83C316-9448-4B67-A71A-19C40B69C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区分差遣和其他</a:t>
            </a:r>
            <a:endParaRPr lang="en-US" altLang="zh-CN" dirty="0"/>
          </a:p>
          <a:p>
            <a:r>
              <a:rPr lang="zh-CN" altLang="en-US" dirty="0"/>
              <a:t>事件</a:t>
            </a:r>
          </a:p>
        </p:txBody>
      </p:sp>
    </p:spTree>
    <p:extLst>
      <p:ext uri="{BB962C8B-B14F-4D97-AF65-F5344CB8AC3E}">
        <p14:creationId xmlns:p14="http://schemas.microsoft.com/office/powerpoint/2010/main" val="2911874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865</Words>
  <Application>Microsoft Office PowerPoint</Application>
  <PresentationFormat>宽屏</PresentationFormat>
  <Paragraphs>129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宋代官制数据提取</vt:lpstr>
      <vt:lpstr>目标</vt:lpstr>
      <vt:lpstr>数据源</vt:lpstr>
      <vt:lpstr>数据结构</vt:lpstr>
      <vt:lpstr>数据接口 API</vt:lpstr>
      <vt:lpstr>对比现有数据表</vt:lpstr>
      <vt:lpstr>实际执行案例（0131）</vt:lpstr>
      <vt:lpstr>产出数据表</vt:lpstr>
      <vt:lpstr>操作记录</vt:lpstr>
      <vt:lpstr>存在问题</vt:lpstr>
      <vt:lpstr>PowerPoint 演示文稿</vt:lpstr>
      <vt:lpstr>存在问题</vt:lpstr>
      <vt:lpstr>存在问题</vt:lpstr>
      <vt:lpstr>重要事件类别</vt:lpstr>
      <vt:lpstr>其他方面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宋代官制数据提取</dc:title>
  <dc:creator>Administrator</dc:creator>
  <cp:lastModifiedBy>Administrator</cp:lastModifiedBy>
  <cp:revision>22</cp:revision>
  <dcterms:created xsi:type="dcterms:W3CDTF">2026-02-03T08:08:22Z</dcterms:created>
  <dcterms:modified xsi:type="dcterms:W3CDTF">2026-02-04T04:46:48Z</dcterms:modified>
</cp:coreProperties>
</file>